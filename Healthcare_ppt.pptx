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61" r:id="rId4"/>
    <p:sldId id="263" r:id="rId5"/>
    <p:sldId id="268" r:id="rId6"/>
    <p:sldId id="275" r:id="rId7"/>
    <p:sldId id="273" r:id="rId8"/>
    <p:sldId id="269" r:id="rId9"/>
    <p:sldId id="270" r:id="rId10"/>
    <p:sldId id="271" r:id="rId11"/>
    <p:sldId id="272" r:id="rId12"/>
    <p:sldId id="27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05D56F-AB36-4884-8126-C92303B1E3A4}" v="4" dt="2025-06-29T17:56:58.8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6/29/2025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6/29/2025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6C4C-B9AC-D624-3BAD-3BC2EB29DF88}"/>
              </a:ext>
            </a:extLst>
          </p:cNvPr>
          <p:cNvSpPr>
            <a:spLocks noGrp="1"/>
          </p:cNvSpPr>
          <p:nvPr>
            <p:ph type="ctrTitle"/>
          </p:nvPr>
        </p:nvSpPr>
        <p:spPr>
          <a:xfrm>
            <a:off x="1718032" y="287401"/>
            <a:ext cx="8791575" cy="1655763"/>
          </a:xfrm>
        </p:spPr>
        <p:txBody>
          <a:bodyPr>
            <a:normAutofit fontScale="90000"/>
          </a:bodyPr>
          <a:lstStyle/>
          <a:p>
            <a:pPr algn="ctr"/>
            <a:r>
              <a:rPr lang="en-US" dirty="0">
                <a:solidFill>
                  <a:srgbClr val="FFFF00"/>
                </a:solidFill>
                <a:latin typeface="Algerian" panose="04020705040A02060702" pitchFamily="82" charset="0"/>
              </a:rPr>
              <a:t>PRESENTATION ON</a:t>
            </a:r>
            <a:br>
              <a:rPr lang="en-US" dirty="0">
                <a:solidFill>
                  <a:srgbClr val="FFFF00"/>
                </a:solidFill>
                <a:latin typeface="Algerian" panose="04020705040A02060702" pitchFamily="82" charset="0"/>
              </a:rPr>
            </a:br>
            <a:r>
              <a:rPr lang="en-US" dirty="0">
                <a:solidFill>
                  <a:srgbClr val="FFFF00"/>
                </a:solidFill>
                <a:latin typeface="Algerian" panose="04020705040A02060702" pitchFamily="82" charset="0"/>
              </a:rPr>
              <a:t>HEALTHCARE MANAGEMENT SYSTEM</a:t>
            </a:r>
            <a:endParaRPr lang="en-IN" dirty="0">
              <a:solidFill>
                <a:srgbClr val="FFFF00"/>
              </a:solidFill>
              <a:latin typeface="Algerian" panose="04020705040A02060702" pitchFamily="82" charset="0"/>
            </a:endParaRPr>
          </a:p>
        </p:txBody>
      </p:sp>
      <p:sp>
        <p:nvSpPr>
          <p:cNvPr id="3" name="Subtitle 2">
            <a:extLst>
              <a:ext uri="{FF2B5EF4-FFF2-40B4-BE49-F238E27FC236}">
                <a16:creationId xmlns:a16="http://schemas.microsoft.com/office/drawing/2014/main" id="{BEE9967A-D370-5845-AB27-624D0E4D414C}"/>
              </a:ext>
            </a:extLst>
          </p:cNvPr>
          <p:cNvSpPr>
            <a:spLocks noGrp="1"/>
          </p:cNvSpPr>
          <p:nvPr>
            <p:ph type="subTitle" idx="1"/>
          </p:nvPr>
        </p:nvSpPr>
        <p:spPr>
          <a:xfrm>
            <a:off x="1710813" y="3621627"/>
            <a:ext cx="9458632" cy="2769341"/>
          </a:xfrm>
        </p:spPr>
        <p:txBody>
          <a:bodyPr>
            <a:normAutofit fontScale="92500"/>
          </a:bodyPr>
          <a:lstStyle/>
          <a:p>
            <a:r>
              <a:rPr lang="en-IN" sz="3000" b="1" dirty="0">
                <a:solidFill>
                  <a:srgbClr val="FFFFCC"/>
                </a:solidFill>
              </a:rPr>
              <a:t>PRESENTED BY :-                                         GUIDED BY :-</a:t>
            </a:r>
          </a:p>
          <a:p>
            <a:pPr>
              <a:spcBef>
                <a:spcPts val="0"/>
              </a:spcBef>
            </a:pPr>
            <a:r>
              <a:rPr lang="en-IN" sz="2400" b="1" dirty="0">
                <a:solidFill>
                  <a:schemeClr val="accent4">
                    <a:lumMod val="20000"/>
                    <a:lumOff val="80000"/>
                  </a:schemeClr>
                </a:solidFill>
                <a:latin typeface="Arial" panose="020B0604020202020204" pitchFamily="34" charset="0"/>
                <a:cs typeface="Arial" panose="020B0604020202020204" pitchFamily="34" charset="0"/>
              </a:rPr>
              <a:t>  MANASI DAS                                                    MS. GITANJALI DIGAL                                         </a:t>
            </a:r>
          </a:p>
          <a:p>
            <a:pPr>
              <a:spcBef>
                <a:spcPts val="0"/>
              </a:spcBef>
            </a:pPr>
            <a:r>
              <a:rPr lang="en-IN" sz="2400" b="1" dirty="0">
                <a:solidFill>
                  <a:schemeClr val="accent4">
                    <a:lumMod val="20000"/>
                    <a:lumOff val="80000"/>
                  </a:schemeClr>
                </a:solidFill>
                <a:latin typeface="Arial" panose="020B0604020202020204" pitchFamily="34" charset="0"/>
                <a:cs typeface="Arial" panose="020B0604020202020204" pitchFamily="34" charset="0"/>
              </a:rPr>
              <a:t>  SARMISTHA NAYAK</a:t>
            </a:r>
          </a:p>
          <a:p>
            <a:pPr>
              <a:spcBef>
                <a:spcPts val="0"/>
              </a:spcBef>
            </a:pPr>
            <a:r>
              <a:rPr lang="en-IN" sz="2400" b="1" dirty="0">
                <a:solidFill>
                  <a:schemeClr val="accent4">
                    <a:lumMod val="20000"/>
                    <a:lumOff val="80000"/>
                  </a:schemeClr>
                </a:solidFill>
                <a:latin typeface="Arial" panose="020B0604020202020204" pitchFamily="34" charset="0"/>
                <a:cs typeface="Arial" panose="020B0604020202020204" pitchFamily="34" charset="0"/>
              </a:rPr>
              <a:t>  SUNIL DALAI</a:t>
            </a:r>
          </a:p>
          <a:p>
            <a:pPr>
              <a:spcBef>
                <a:spcPts val="0"/>
              </a:spcBef>
            </a:pPr>
            <a:r>
              <a:rPr lang="en-IN" sz="2400" b="1" dirty="0">
                <a:solidFill>
                  <a:schemeClr val="accent4">
                    <a:lumMod val="20000"/>
                    <a:lumOff val="80000"/>
                  </a:schemeClr>
                </a:solidFill>
                <a:latin typeface="Arial" panose="020B0604020202020204" pitchFamily="34" charset="0"/>
                <a:cs typeface="Arial" panose="020B0604020202020204" pitchFamily="34" charset="0"/>
              </a:rPr>
              <a:t>  CHANDAN KUMAR MOHANTY</a:t>
            </a:r>
          </a:p>
          <a:p>
            <a:pPr>
              <a:spcBef>
                <a:spcPts val="0"/>
              </a:spcBef>
            </a:pPr>
            <a:r>
              <a:rPr lang="en-IN" sz="2400" b="1" dirty="0">
                <a:solidFill>
                  <a:schemeClr val="accent4">
                    <a:lumMod val="20000"/>
                    <a:lumOff val="80000"/>
                  </a:schemeClr>
                </a:solidFill>
                <a:latin typeface="Arial" panose="020B0604020202020204" pitchFamily="34" charset="0"/>
                <a:cs typeface="Arial" panose="020B0604020202020204" pitchFamily="34" charset="0"/>
              </a:rPr>
              <a:t>  ANKIT KUMAR BEHERA</a:t>
            </a:r>
          </a:p>
          <a:p>
            <a:endParaRPr lang="en-IN" sz="2400" b="1" dirty="0">
              <a:solidFill>
                <a:schemeClr val="tx1"/>
              </a:solidFill>
            </a:endParaRPr>
          </a:p>
        </p:txBody>
      </p:sp>
      <p:pic>
        <p:nvPicPr>
          <p:cNvPr id="4" name="Content Placeholder 7">
            <a:extLst>
              <a:ext uri="{FF2B5EF4-FFF2-40B4-BE49-F238E27FC236}">
                <a16:creationId xmlns:a16="http://schemas.microsoft.com/office/drawing/2014/main" id="{8C6AA528-2621-4084-8720-FAA667DF1874}"/>
              </a:ext>
            </a:extLst>
          </p:cNvPr>
          <p:cNvPicPr>
            <a:picLocks noChangeAspect="1"/>
          </p:cNvPicPr>
          <p:nvPr/>
        </p:nvPicPr>
        <p:blipFill>
          <a:blip r:embed="rId2"/>
          <a:stretch>
            <a:fillRect/>
          </a:stretch>
        </p:blipFill>
        <p:spPr>
          <a:xfrm>
            <a:off x="5325395" y="2195767"/>
            <a:ext cx="1714500" cy="1714500"/>
          </a:xfrm>
          <a:prstGeom prst="rect">
            <a:avLst/>
          </a:prstGeom>
        </p:spPr>
      </p:pic>
    </p:spTree>
    <p:extLst>
      <p:ext uri="{BB962C8B-B14F-4D97-AF65-F5344CB8AC3E}">
        <p14:creationId xmlns:p14="http://schemas.microsoft.com/office/powerpoint/2010/main" val="35118210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E6EC5-6B81-EC5C-E448-D50272968625}"/>
              </a:ext>
            </a:extLst>
          </p:cNvPr>
          <p:cNvSpPr>
            <a:spLocks noGrp="1"/>
          </p:cNvSpPr>
          <p:nvPr>
            <p:ph type="title"/>
          </p:nvPr>
        </p:nvSpPr>
        <p:spPr>
          <a:xfrm>
            <a:off x="898344" y="109232"/>
            <a:ext cx="9905998" cy="1031310"/>
          </a:xfrm>
        </p:spPr>
        <p:txBody>
          <a:bodyPr>
            <a:normAutofit/>
          </a:bodyPr>
          <a:lstStyle/>
          <a:p>
            <a:pPr algn="ctr"/>
            <a:r>
              <a:rPr lang="en-IN" sz="5400" b="1" dirty="0">
                <a:latin typeface="Algerian" panose="04020705040A02060702" pitchFamily="82" charset="0"/>
              </a:rPr>
              <a:t>CONTENTS</a:t>
            </a:r>
          </a:p>
        </p:txBody>
      </p:sp>
      <p:sp>
        <p:nvSpPr>
          <p:cNvPr id="4" name="Rectangle 1">
            <a:extLst>
              <a:ext uri="{FF2B5EF4-FFF2-40B4-BE49-F238E27FC236}">
                <a16:creationId xmlns:a16="http://schemas.microsoft.com/office/drawing/2014/main" id="{757B980F-7652-6F8C-5540-7A75BF6B20C8}"/>
              </a:ext>
            </a:extLst>
          </p:cNvPr>
          <p:cNvSpPr>
            <a:spLocks noGrp="1" noChangeArrowheads="1"/>
          </p:cNvSpPr>
          <p:nvPr>
            <p:ph idx="1"/>
          </p:nvPr>
        </p:nvSpPr>
        <p:spPr bwMode="auto">
          <a:xfrm>
            <a:off x="1739000" y="647084"/>
            <a:ext cx="9065342" cy="5563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latin typeface="Arial" panose="020B0604020202020204" pitchFamily="34" charset="0"/>
              </a:rPr>
              <a:t>PROBLEM STATEMENT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DATA</a:t>
            </a:r>
            <a:r>
              <a:rPr lang="en-US" altLang="en-US" dirty="0">
                <a:latin typeface="Arial" panose="020B0604020202020204" pitchFamily="34" charset="0"/>
              </a:rPr>
              <a:t>SET OVERVIEW</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TOOLS AND TECHNOLOGIES USED</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latin typeface="Arial" panose="020B0604020202020204" pitchFamily="34" charset="0"/>
              </a:rPr>
              <a:t>MACHINE LEARNING MODEL</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latin typeface="Arial" panose="020B0604020202020204" pitchFamily="34" charset="0"/>
              </a:rPr>
              <a:t>WORKFLOW</a:t>
            </a: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latin typeface="Arial" panose="020B0604020202020204" pitchFamily="34" charset="0"/>
              </a:rPr>
              <a:t>EXCEL DASHBOARD</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TABLEAU VISUALIZA</a:t>
            </a:r>
            <a:r>
              <a:rPr lang="en-US" altLang="en-US" dirty="0">
                <a:latin typeface="Arial" panose="020B0604020202020204" pitchFamily="34" charset="0"/>
              </a:rPr>
              <a:t>TION DASHBOARD</a:t>
            </a: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latin typeface="Arial" panose="020B0604020202020204" pitchFamily="34" charset="0"/>
              </a:rPr>
              <a:t>FUTURE SCOPE</a:t>
            </a: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latin typeface="Arial" panose="020B0604020202020204" pitchFamily="34" charset="0"/>
              </a:rPr>
              <a:t>CONCLUSION</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177214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C55E9-2DC7-73E7-7CAA-9BB523326A64}"/>
              </a:ext>
            </a:extLst>
          </p:cNvPr>
          <p:cNvSpPr>
            <a:spLocks noGrp="1"/>
          </p:cNvSpPr>
          <p:nvPr>
            <p:ph type="title"/>
          </p:nvPr>
        </p:nvSpPr>
        <p:spPr>
          <a:xfrm>
            <a:off x="1357720" y="24158"/>
            <a:ext cx="9906001" cy="940943"/>
          </a:xfrm>
        </p:spPr>
        <p:txBody>
          <a:bodyPr/>
          <a:lstStyle/>
          <a:p>
            <a:r>
              <a:rPr lang="en-IN" dirty="0">
                <a:latin typeface="Arial Rounded MT Bold" panose="020F0704030504030204" pitchFamily="34" charset="0"/>
              </a:rPr>
              <a:t>PROBLEM STATEMENT</a:t>
            </a:r>
          </a:p>
        </p:txBody>
      </p:sp>
      <p:sp>
        <p:nvSpPr>
          <p:cNvPr id="3" name="Text Placeholder 2">
            <a:extLst>
              <a:ext uri="{FF2B5EF4-FFF2-40B4-BE49-F238E27FC236}">
                <a16:creationId xmlns:a16="http://schemas.microsoft.com/office/drawing/2014/main" id="{89B58C93-ABDE-E84D-E01D-7B4861731CA4}"/>
              </a:ext>
            </a:extLst>
          </p:cNvPr>
          <p:cNvSpPr>
            <a:spLocks noGrp="1"/>
          </p:cNvSpPr>
          <p:nvPr>
            <p:ph type="body" sz="half" idx="2"/>
          </p:nvPr>
        </p:nvSpPr>
        <p:spPr>
          <a:xfrm>
            <a:off x="929775" y="895730"/>
            <a:ext cx="9904505" cy="2175764"/>
          </a:xfrm>
        </p:spPr>
        <p:txBody>
          <a:bodyPr>
            <a:noAutofit/>
          </a:bodyPr>
          <a:lstStyle/>
          <a:p>
            <a:pPr algn="just"/>
            <a:r>
              <a:rPr lang="en-US" sz="2400" dirty="0"/>
              <a:t>In many hospitals and healthcare facilities, there is a lack of centralized, data-driven tools to monitor and manage key operational metrics. Healthcare administrators often rely on manually maintained records, which makes it difficult to gain real-time insights into patient flow, appointment scheduling, treatment outcomes, billing efficiency, and doctor performance. This leads to inefficiencies, delays in decision-making, and compromised patient care.</a:t>
            </a:r>
            <a:endParaRPr lang="en-IN" sz="2400" dirty="0"/>
          </a:p>
        </p:txBody>
      </p:sp>
      <p:sp>
        <p:nvSpPr>
          <p:cNvPr id="4" name="Title 1">
            <a:extLst>
              <a:ext uri="{FF2B5EF4-FFF2-40B4-BE49-F238E27FC236}">
                <a16:creationId xmlns:a16="http://schemas.microsoft.com/office/drawing/2014/main" id="{CB34BF45-B751-6DBA-402B-AE46FFD0AA5F}"/>
              </a:ext>
            </a:extLst>
          </p:cNvPr>
          <p:cNvSpPr txBox="1">
            <a:spLocks/>
          </p:cNvSpPr>
          <p:nvPr/>
        </p:nvSpPr>
        <p:spPr>
          <a:xfrm>
            <a:off x="1357720" y="3356221"/>
            <a:ext cx="9906001" cy="94094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IN" dirty="0">
                <a:latin typeface="Arial Rounded MT Bold" panose="020F0704030504030204" pitchFamily="34" charset="0"/>
              </a:rPr>
              <a:t>SOLUTIONS</a:t>
            </a:r>
          </a:p>
        </p:txBody>
      </p:sp>
      <p:sp>
        <p:nvSpPr>
          <p:cNvPr id="5" name="Text Placeholder 2">
            <a:extLst>
              <a:ext uri="{FF2B5EF4-FFF2-40B4-BE49-F238E27FC236}">
                <a16:creationId xmlns:a16="http://schemas.microsoft.com/office/drawing/2014/main" id="{AFF4B2C6-6F6B-E1EA-11C3-CBE0E3A5799B}"/>
              </a:ext>
            </a:extLst>
          </p:cNvPr>
          <p:cNvSpPr txBox="1">
            <a:spLocks/>
          </p:cNvSpPr>
          <p:nvPr/>
        </p:nvSpPr>
        <p:spPr>
          <a:xfrm>
            <a:off x="928279" y="4297164"/>
            <a:ext cx="9904505" cy="2175764"/>
          </a:xfrm>
          <a:prstGeom prst="rect">
            <a:avLst/>
          </a:prstGeom>
        </p:spPr>
        <p:txBody>
          <a:bodyPr vert="horz" lIns="91440" tIns="45720" rIns="91440" bIns="45720" rtlCol="0" anchor="t">
            <a:no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9pPr>
          </a:lstStyle>
          <a:p>
            <a:pPr algn="just"/>
            <a:r>
              <a:rPr lang="en-US" sz="2400" dirty="0"/>
              <a:t>To address these challenges, our project aims to build a Healthcare Management Dashboard that consolidates data from multiple sources (e.g., patients, doctors, treatments, appointments, and billing) into an interactive, visual platform. This dashboard empowers stakeholders to make informed decisions, track KPIs, and optimize hospital operations effectively.</a:t>
            </a:r>
            <a:endParaRPr lang="en-IN" sz="2400" dirty="0"/>
          </a:p>
        </p:txBody>
      </p:sp>
    </p:spTree>
    <p:extLst>
      <p:ext uri="{BB962C8B-B14F-4D97-AF65-F5344CB8AC3E}">
        <p14:creationId xmlns:p14="http://schemas.microsoft.com/office/powerpoint/2010/main" val="1892154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5CFA2-5FB6-E8AE-3690-FD8116762683}"/>
              </a:ext>
            </a:extLst>
          </p:cNvPr>
          <p:cNvSpPr>
            <a:spLocks noGrp="1"/>
          </p:cNvSpPr>
          <p:nvPr>
            <p:ph type="ctrTitle"/>
          </p:nvPr>
        </p:nvSpPr>
        <p:spPr>
          <a:xfrm>
            <a:off x="1710813" y="88490"/>
            <a:ext cx="8780974" cy="1474840"/>
          </a:xfrm>
        </p:spPr>
        <p:txBody>
          <a:bodyPr>
            <a:normAutofit/>
          </a:bodyPr>
          <a:lstStyle/>
          <a:p>
            <a:pPr algn="ctr"/>
            <a:r>
              <a:rPr lang="en-US" altLang="en-US" sz="4000" cap="none" dirty="0">
                <a:latin typeface="Arial Black" panose="020B0A04020102020204" pitchFamily="34" charset="0"/>
              </a:rPr>
              <a:t>DATASET OVERVIEW</a:t>
            </a:r>
            <a:br>
              <a:rPr kumimoji="0" lang="en-US" altLang="en-US" b="0" i="0" u="none" strike="noStrike" cap="none" normalizeH="0" baseline="0" dirty="0">
                <a:ln>
                  <a:noFill/>
                </a:ln>
                <a:solidFill>
                  <a:schemeClr val="tx1"/>
                </a:solidFill>
                <a:effectLst/>
                <a:latin typeface="Arial" panose="020B0604020202020204" pitchFamily="34" charset="0"/>
              </a:rPr>
            </a:br>
            <a:endParaRPr lang="en-IN" dirty="0"/>
          </a:p>
        </p:txBody>
      </p:sp>
      <p:sp>
        <p:nvSpPr>
          <p:cNvPr id="6" name="Text Placeholder 2">
            <a:extLst>
              <a:ext uri="{FF2B5EF4-FFF2-40B4-BE49-F238E27FC236}">
                <a16:creationId xmlns:a16="http://schemas.microsoft.com/office/drawing/2014/main" id="{07200A27-60F0-5DCE-8C80-3163FA81FF43}"/>
              </a:ext>
            </a:extLst>
          </p:cNvPr>
          <p:cNvSpPr txBox="1">
            <a:spLocks/>
          </p:cNvSpPr>
          <p:nvPr/>
        </p:nvSpPr>
        <p:spPr>
          <a:xfrm>
            <a:off x="929775" y="895730"/>
            <a:ext cx="9904505" cy="5652554"/>
          </a:xfrm>
          <a:prstGeom prst="rect">
            <a:avLst/>
          </a:prstGeom>
        </p:spPr>
        <p:txBody>
          <a:bodyP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gn="just"/>
            <a:endParaRPr lang="en-IN" dirty="0"/>
          </a:p>
        </p:txBody>
      </p:sp>
      <p:sp>
        <p:nvSpPr>
          <p:cNvPr id="7" name="Text Placeholder 2">
            <a:extLst>
              <a:ext uri="{FF2B5EF4-FFF2-40B4-BE49-F238E27FC236}">
                <a16:creationId xmlns:a16="http://schemas.microsoft.com/office/drawing/2014/main" id="{49046234-331D-48EA-8BB1-A8BC8BFA4815}"/>
              </a:ext>
            </a:extLst>
          </p:cNvPr>
          <p:cNvSpPr txBox="1">
            <a:spLocks/>
          </p:cNvSpPr>
          <p:nvPr/>
        </p:nvSpPr>
        <p:spPr>
          <a:xfrm>
            <a:off x="1150375" y="1119912"/>
            <a:ext cx="10332834" cy="5873781"/>
          </a:xfrm>
          <a:prstGeom prst="rect">
            <a:avLst/>
          </a:prstGeom>
        </p:spPr>
        <p:txBody>
          <a:bodyP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gn="just"/>
            <a:r>
              <a:rPr lang="en-US" dirty="0"/>
              <a:t>Appointment.csv :- This dataset records patient appointments with </a:t>
            </a:r>
            <a:r>
              <a:rPr lang="en-US" dirty="0" err="1"/>
              <a:t>doctors.It</a:t>
            </a:r>
            <a:r>
              <a:rPr lang="en-US" dirty="0"/>
              <a:t> includes appointment dates, status, and related patients/doctors IDs.</a:t>
            </a:r>
          </a:p>
          <a:p>
            <a:pPr algn="just"/>
            <a:r>
              <a:rPr lang="en-IN" dirty="0"/>
              <a:t>Billing.csv</a:t>
            </a:r>
            <a:r>
              <a:rPr lang="en-US" dirty="0"/>
              <a:t>:-Contains financial transactions linked to </a:t>
            </a:r>
            <a:r>
              <a:rPr lang="en-US" dirty="0" err="1"/>
              <a:t>appointments.Tracks</a:t>
            </a:r>
            <a:r>
              <a:rPr lang="en-US" dirty="0"/>
              <a:t> payment amounts, methods (e.g., Cash, Card), and payment status (Paid, Pending).</a:t>
            </a:r>
          </a:p>
          <a:p>
            <a:pPr algn="just"/>
            <a:r>
              <a:rPr lang="en-IN" dirty="0"/>
              <a:t>Treatments.csv</a:t>
            </a:r>
            <a:r>
              <a:rPr lang="en-US" dirty="0"/>
              <a:t> :-Provides details of treatments given during appointments.</a:t>
            </a:r>
            <a:br>
              <a:rPr lang="en-US" dirty="0"/>
            </a:br>
            <a:r>
              <a:rPr lang="en-US" dirty="0"/>
              <a:t>Includes treatment type, description, cost, and treatment date.</a:t>
            </a:r>
          </a:p>
          <a:p>
            <a:pPr algn="just"/>
            <a:r>
              <a:rPr lang="en-IN" dirty="0"/>
              <a:t>Doctors.csv</a:t>
            </a:r>
            <a:r>
              <a:rPr lang="en-US" dirty="0"/>
              <a:t> :- Lists doctor profiles including specialization and experience.</a:t>
            </a:r>
            <a:br>
              <a:rPr lang="en-US" dirty="0"/>
            </a:br>
            <a:r>
              <a:rPr lang="en-US" dirty="0"/>
              <a:t>Helps analyze doctor availability, performance, and branch-wise distribution.</a:t>
            </a:r>
          </a:p>
          <a:p>
            <a:pPr algn="just"/>
            <a:r>
              <a:rPr lang="en-IN" dirty="0"/>
              <a:t>Patients.csv</a:t>
            </a:r>
            <a:r>
              <a:rPr lang="en-US" dirty="0"/>
              <a:t>:-Contains demographic and insurance details of patients.</a:t>
            </a:r>
            <a:br>
              <a:rPr lang="en-US" dirty="0"/>
            </a:br>
            <a:r>
              <a:rPr lang="en-US" dirty="0"/>
              <a:t>Useful for analyzing gender, age groups, and insurance provider distribution.</a:t>
            </a:r>
          </a:p>
          <a:p>
            <a:pPr algn="just"/>
            <a:endParaRPr lang="en-IN" dirty="0"/>
          </a:p>
        </p:txBody>
      </p:sp>
    </p:spTree>
    <p:extLst>
      <p:ext uri="{BB962C8B-B14F-4D97-AF65-F5344CB8AC3E}">
        <p14:creationId xmlns:p14="http://schemas.microsoft.com/office/powerpoint/2010/main" val="255657033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47282-09D6-B322-DFB5-31C8D091DC86}"/>
              </a:ext>
            </a:extLst>
          </p:cNvPr>
          <p:cNvSpPr txBox="1">
            <a:spLocks/>
          </p:cNvSpPr>
          <p:nvPr/>
        </p:nvSpPr>
        <p:spPr>
          <a:xfrm>
            <a:off x="1256992" y="812289"/>
            <a:ext cx="8791575" cy="845575"/>
          </a:xfrm>
          <a:prstGeom prst="rect">
            <a:avLst/>
          </a:prstGeom>
        </p:spPr>
        <p:txBody>
          <a:bodyPr>
            <a:normAutofit fontScale="92500" lnSpcReduction="2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altLang="en-US" dirty="0">
                <a:latin typeface="Arial Black" panose="020B0A04020102020204" pitchFamily="34" charset="0"/>
              </a:rPr>
              <a:t>Tools and technologies used</a:t>
            </a:r>
            <a:br>
              <a:rPr lang="en-US" altLang="en-US" dirty="0">
                <a:latin typeface="Arial" panose="020B0604020202020204" pitchFamily="34" charset="0"/>
              </a:rPr>
            </a:br>
            <a:endParaRPr lang="en-IN" dirty="0"/>
          </a:p>
        </p:txBody>
      </p:sp>
      <p:sp>
        <p:nvSpPr>
          <p:cNvPr id="4" name="TextBox 3">
            <a:extLst>
              <a:ext uri="{FF2B5EF4-FFF2-40B4-BE49-F238E27FC236}">
                <a16:creationId xmlns:a16="http://schemas.microsoft.com/office/drawing/2014/main" id="{B074C923-5927-0074-699D-07A4292A3DD8}"/>
              </a:ext>
            </a:extLst>
          </p:cNvPr>
          <p:cNvSpPr txBox="1"/>
          <p:nvPr/>
        </p:nvSpPr>
        <p:spPr>
          <a:xfrm>
            <a:off x="1347479" y="1634412"/>
            <a:ext cx="8610600" cy="2776401"/>
          </a:xfrm>
          <a:prstGeom prst="rect">
            <a:avLst/>
          </a:prstGeom>
          <a:noFill/>
        </p:spPr>
        <p:txBody>
          <a:bodyPr wrap="square">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Tableau</a:t>
            </a:r>
            <a:r>
              <a:rPr kumimoji="0" lang="en-US" altLang="en-US" sz="1800" b="0" i="0" u="none" strike="noStrike" cap="none" normalizeH="0" baseline="0" dirty="0">
                <a:ln>
                  <a:noFill/>
                </a:ln>
                <a:solidFill>
                  <a:schemeClr val="tx1"/>
                </a:solidFill>
                <a:effectLst/>
                <a:latin typeface="Arial" panose="020B0604020202020204" pitchFamily="34" charset="0"/>
              </a:rPr>
              <a:t> – For data visualization and interactive dashboard creation.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Python</a:t>
            </a:r>
            <a:r>
              <a:rPr kumimoji="0" lang="en-US" altLang="en-US" sz="1800" b="0" i="0" u="none" strike="noStrike" cap="none" normalizeH="0" baseline="0" dirty="0">
                <a:ln>
                  <a:noFill/>
                </a:ln>
                <a:solidFill>
                  <a:schemeClr val="tx1"/>
                </a:solidFill>
                <a:effectLst/>
                <a:latin typeface="Arial" panose="020B0604020202020204" pitchFamily="34" charset="0"/>
              </a:rPr>
              <a:t> – For building and integrating the machine learning model</a:t>
            </a:r>
            <a:r>
              <a:rPr lang="en-US" altLang="en-US" dirty="0">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Pandas &amp; NumPy</a:t>
            </a:r>
            <a:r>
              <a:rPr kumimoji="0" lang="en-US" altLang="en-US" sz="1800" b="0" i="0" u="none" strike="noStrike" cap="none" normalizeH="0" baseline="0" dirty="0">
                <a:ln>
                  <a:noFill/>
                </a:ln>
                <a:solidFill>
                  <a:schemeClr val="tx1"/>
                </a:solidFill>
                <a:effectLst/>
                <a:latin typeface="Arial" panose="020B0604020202020204" pitchFamily="34" charset="0"/>
              </a:rPr>
              <a:t> – For data preprocessing and manipulation.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Scikit-learn</a:t>
            </a:r>
            <a:r>
              <a:rPr kumimoji="0" lang="en-US" altLang="en-US" sz="1800" b="0" i="0" u="none" strike="noStrike" cap="none" normalizeH="0" baseline="0" dirty="0">
                <a:ln>
                  <a:noFill/>
                </a:ln>
                <a:solidFill>
                  <a:schemeClr val="tx1"/>
                </a:solidFill>
                <a:effectLst/>
                <a:latin typeface="Arial" panose="020B0604020202020204" pitchFamily="34" charset="0"/>
              </a:rPr>
              <a:t> – For training and evaluating ML models.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MS Excel / CSV</a:t>
            </a:r>
            <a:r>
              <a:rPr kumimoji="0" lang="en-US" altLang="en-US" sz="1800" b="0" i="0" u="none" strike="noStrike" cap="none" normalizeH="0" baseline="0" dirty="0">
                <a:ln>
                  <a:noFill/>
                </a:ln>
                <a:solidFill>
                  <a:schemeClr val="tx1"/>
                </a:solidFill>
                <a:effectLst/>
                <a:latin typeface="Arial" panose="020B0604020202020204" pitchFamily="34" charset="0"/>
              </a:rPr>
              <a:t> – Data storage and input source.</a:t>
            </a:r>
          </a:p>
        </p:txBody>
      </p:sp>
    </p:spTree>
    <p:extLst>
      <p:ext uri="{BB962C8B-B14F-4D97-AF65-F5344CB8AC3E}">
        <p14:creationId xmlns:p14="http://schemas.microsoft.com/office/powerpoint/2010/main" val="290394060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627E0-D982-8DF0-5414-3D00D036A600}"/>
              </a:ext>
            </a:extLst>
          </p:cNvPr>
          <p:cNvSpPr txBox="1">
            <a:spLocks/>
          </p:cNvSpPr>
          <p:nvPr/>
        </p:nvSpPr>
        <p:spPr>
          <a:xfrm>
            <a:off x="1606872" y="285135"/>
            <a:ext cx="8780974" cy="1183222"/>
          </a:xfrm>
          <a:prstGeom prst="rect">
            <a:avLst/>
          </a:prstGeom>
        </p:spPr>
        <p:txBody>
          <a:bodyPr>
            <a:normAutofit fontScale="77500" lnSpcReduction="2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altLang="en-US" sz="4300" cap="none" dirty="0">
                <a:latin typeface="Arial Rounded MT Bold" panose="020F0704030504030204" pitchFamily="34" charset="0"/>
              </a:rPr>
              <a:t>ML MODEL OF HEALTHCARE MANAGEMENT</a:t>
            </a:r>
            <a:br>
              <a:rPr lang="en-US" altLang="en-US" cap="none" dirty="0">
                <a:latin typeface="Arial" panose="020B0604020202020204" pitchFamily="34" charset="0"/>
              </a:rPr>
            </a:br>
            <a:endParaRPr lang="en-IN" dirty="0"/>
          </a:p>
        </p:txBody>
      </p:sp>
      <p:sp>
        <p:nvSpPr>
          <p:cNvPr id="3" name="Title 1">
            <a:extLst>
              <a:ext uri="{FF2B5EF4-FFF2-40B4-BE49-F238E27FC236}">
                <a16:creationId xmlns:a16="http://schemas.microsoft.com/office/drawing/2014/main" id="{6B78C995-780B-E040-5A4C-AE420FD6F1AD}"/>
              </a:ext>
            </a:extLst>
          </p:cNvPr>
          <p:cNvSpPr txBox="1">
            <a:spLocks/>
          </p:cNvSpPr>
          <p:nvPr/>
        </p:nvSpPr>
        <p:spPr>
          <a:xfrm>
            <a:off x="1179871" y="1189702"/>
            <a:ext cx="9891252" cy="4542503"/>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altLang="en-US" sz="2800" cap="none" dirty="0">
                <a:latin typeface="Aptos" panose="020B0004020202020204" pitchFamily="34" charset="0"/>
              </a:rPr>
              <a:t>OBJECTIVE :-</a:t>
            </a:r>
          </a:p>
          <a:p>
            <a:r>
              <a:rPr lang="en-US" sz="2400" cap="none" dirty="0">
                <a:latin typeface="Aptos" panose="020B0004020202020204" pitchFamily="34" charset="0"/>
              </a:rPr>
              <a:t>The objective of this is to analyze the Health Management System dataset and build a predictive model to estimate treatment costs based on various features such as treatment type and specialization.</a:t>
            </a:r>
          </a:p>
          <a:p>
            <a:endParaRPr lang="en-US" sz="2800" cap="none" dirty="0">
              <a:latin typeface="Aptos" panose="020B0004020202020204" pitchFamily="34" charset="0"/>
            </a:endParaRPr>
          </a:p>
          <a:p>
            <a:r>
              <a:rPr lang="en-US" sz="2800" cap="none" dirty="0">
                <a:latin typeface="Aptos" panose="020B0004020202020204" pitchFamily="34" charset="0"/>
              </a:rPr>
              <a:t>STEPS FOR BUILDING MODEL :-</a:t>
            </a:r>
          </a:p>
          <a:p>
            <a:r>
              <a:rPr lang="en-US" sz="2400" cap="none" dirty="0">
                <a:latin typeface="Aptos" panose="020B0004020202020204" pitchFamily="34" charset="0"/>
              </a:rPr>
              <a:t>1. Data Preparation</a:t>
            </a:r>
          </a:p>
          <a:p>
            <a:r>
              <a:rPr lang="en-US" sz="2400" cap="none" dirty="0">
                <a:latin typeface="Aptos" panose="020B0004020202020204" pitchFamily="34" charset="0"/>
              </a:rPr>
              <a:t>2. Data Analysis</a:t>
            </a:r>
          </a:p>
          <a:p>
            <a:r>
              <a:rPr lang="en-US" sz="2400" cap="none" dirty="0">
                <a:latin typeface="Aptos" panose="020B0004020202020204" pitchFamily="34" charset="0"/>
              </a:rPr>
              <a:t>3. Data Preprocessing</a:t>
            </a:r>
          </a:p>
          <a:p>
            <a:r>
              <a:rPr lang="en-US" sz="2400" cap="none" dirty="0">
                <a:latin typeface="Aptos" panose="020B0004020202020204" pitchFamily="34" charset="0"/>
              </a:rPr>
              <a:t>4. Model Building and Training</a:t>
            </a:r>
          </a:p>
          <a:p>
            <a:r>
              <a:rPr lang="en-US" sz="2400" cap="none" dirty="0">
                <a:latin typeface="Aptos" panose="020B0004020202020204" pitchFamily="34" charset="0"/>
              </a:rPr>
              <a:t>5. Predictions and Evaluation</a:t>
            </a:r>
          </a:p>
        </p:txBody>
      </p:sp>
    </p:spTree>
    <p:extLst>
      <p:ext uri="{BB962C8B-B14F-4D97-AF65-F5344CB8AC3E}">
        <p14:creationId xmlns:p14="http://schemas.microsoft.com/office/powerpoint/2010/main" val="2738503230"/>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40930-C902-0B54-FFE6-074F461E6E9B}"/>
              </a:ext>
            </a:extLst>
          </p:cNvPr>
          <p:cNvSpPr txBox="1">
            <a:spLocks/>
          </p:cNvSpPr>
          <p:nvPr/>
        </p:nvSpPr>
        <p:spPr>
          <a:xfrm>
            <a:off x="1488885" y="186814"/>
            <a:ext cx="8780974" cy="1271712"/>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altLang="en-US" cap="none" dirty="0">
                <a:latin typeface="Arial Black" panose="020B0A04020102020204" pitchFamily="34" charset="0"/>
              </a:rPr>
              <a:t>WORKFLOW</a:t>
            </a:r>
            <a:br>
              <a:rPr lang="en-US" altLang="en-US" cap="none" dirty="0">
                <a:latin typeface="Arial" panose="020B0604020202020204" pitchFamily="34" charset="0"/>
              </a:rPr>
            </a:br>
            <a:endParaRPr lang="en-IN" dirty="0"/>
          </a:p>
        </p:txBody>
      </p:sp>
      <p:pic>
        <p:nvPicPr>
          <p:cNvPr id="4" name="Picture 3">
            <a:extLst>
              <a:ext uri="{FF2B5EF4-FFF2-40B4-BE49-F238E27FC236}">
                <a16:creationId xmlns:a16="http://schemas.microsoft.com/office/drawing/2014/main" id="{912BF761-B3B9-8510-6831-1DD567C0FFB9}"/>
              </a:ext>
            </a:extLst>
          </p:cNvPr>
          <p:cNvPicPr>
            <a:picLocks noChangeAspect="1"/>
          </p:cNvPicPr>
          <p:nvPr/>
        </p:nvPicPr>
        <p:blipFill>
          <a:blip r:embed="rId2"/>
          <a:stretch>
            <a:fillRect/>
          </a:stretch>
        </p:blipFill>
        <p:spPr>
          <a:xfrm>
            <a:off x="825909" y="823912"/>
            <a:ext cx="10579509" cy="5665378"/>
          </a:xfrm>
          <a:prstGeom prst="rect">
            <a:avLst/>
          </a:prstGeom>
        </p:spPr>
      </p:pic>
    </p:spTree>
    <p:extLst>
      <p:ext uri="{BB962C8B-B14F-4D97-AF65-F5344CB8AC3E}">
        <p14:creationId xmlns:p14="http://schemas.microsoft.com/office/powerpoint/2010/main" val="2359917479"/>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BC475-7D64-3E23-167C-D1B3DF836517}"/>
              </a:ext>
            </a:extLst>
          </p:cNvPr>
          <p:cNvSpPr txBox="1">
            <a:spLocks/>
          </p:cNvSpPr>
          <p:nvPr/>
        </p:nvSpPr>
        <p:spPr>
          <a:xfrm>
            <a:off x="1710813" y="88490"/>
            <a:ext cx="8780974" cy="1474840"/>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altLang="en-US" sz="4000" cap="none" dirty="0">
                <a:latin typeface="Arial Black" panose="020B0A04020102020204" pitchFamily="34" charset="0"/>
              </a:rPr>
              <a:t>EXCEL DASHBOARD</a:t>
            </a:r>
            <a:br>
              <a:rPr lang="en-US" altLang="en-US" cap="none" dirty="0">
                <a:latin typeface="Arial" panose="020B0604020202020204" pitchFamily="34" charset="0"/>
              </a:rPr>
            </a:br>
            <a:endParaRPr lang="en-IN" dirty="0"/>
          </a:p>
        </p:txBody>
      </p:sp>
      <p:pic>
        <p:nvPicPr>
          <p:cNvPr id="4" name="Picture 3">
            <a:extLst>
              <a:ext uri="{FF2B5EF4-FFF2-40B4-BE49-F238E27FC236}">
                <a16:creationId xmlns:a16="http://schemas.microsoft.com/office/drawing/2014/main" id="{817F7D51-B4F1-FDA7-1CA2-287C6EAC52CE}"/>
              </a:ext>
            </a:extLst>
          </p:cNvPr>
          <p:cNvPicPr>
            <a:picLocks noChangeAspect="1"/>
          </p:cNvPicPr>
          <p:nvPr/>
        </p:nvPicPr>
        <p:blipFill>
          <a:blip r:embed="rId2"/>
          <a:stretch>
            <a:fillRect/>
          </a:stretch>
        </p:blipFill>
        <p:spPr>
          <a:xfrm>
            <a:off x="776748" y="796413"/>
            <a:ext cx="10825317" cy="5801032"/>
          </a:xfrm>
          <a:prstGeom prst="rect">
            <a:avLst/>
          </a:prstGeom>
        </p:spPr>
      </p:pic>
    </p:spTree>
    <p:extLst>
      <p:ext uri="{BB962C8B-B14F-4D97-AF65-F5344CB8AC3E}">
        <p14:creationId xmlns:p14="http://schemas.microsoft.com/office/powerpoint/2010/main" val="1086158106"/>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5AE23-D1B4-83E1-11BB-B1157BD39FA2}"/>
              </a:ext>
            </a:extLst>
          </p:cNvPr>
          <p:cNvSpPr txBox="1">
            <a:spLocks/>
          </p:cNvSpPr>
          <p:nvPr/>
        </p:nvSpPr>
        <p:spPr>
          <a:xfrm>
            <a:off x="1710813" y="88490"/>
            <a:ext cx="8780974" cy="1474840"/>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altLang="en-US" sz="4000" cap="none" dirty="0">
                <a:latin typeface="Arial Black" panose="020B0A04020102020204" pitchFamily="34" charset="0"/>
              </a:rPr>
              <a:t>TABLEAU DASHBOARD</a:t>
            </a:r>
            <a:br>
              <a:rPr lang="en-US" altLang="en-US" cap="none" dirty="0">
                <a:latin typeface="Arial" panose="020B0604020202020204" pitchFamily="34" charset="0"/>
              </a:rPr>
            </a:br>
            <a:endParaRPr lang="en-IN" dirty="0"/>
          </a:p>
        </p:txBody>
      </p:sp>
      <p:pic>
        <p:nvPicPr>
          <p:cNvPr id="4" name="Picture 3">
            <a:extLst>
              <a:ext uri="{FF2B5EF4-FFF2-40B4-BE49-F238E27FC236}">
                <a16:creationId xmlns:a16="http://schemas.microsoft.com/office/drawing/2014/main" id="{3414E500-9FEB-1F3E-4CBF-37D2362120E4}"/>
              </a:ext>
            </a:extLst>
          </p:cNvPr>
          <p:cNvPicPr>
            <a:picLocks noChangeAspect="1"/>
          </p:cNvPicPr>
          <p:nvPr/>
        </p:nvPicPr>
        <p:blipFill>
          <a:blip r:embed="rId2"/>
          <a:stretch>
            <a:fillRect/>
          </a:stretch>
        </p:blipFill>
        <p:spPr>
          <a:xfrm>
            <a:off x="953729" y="792112"/>
            <a:ext cx="10461524" cy="5589023"/>
          </a:xfrm>
          <a:prstGeom prst="rect">
            <a:avLst/>
          </a:prstGeom>
        </p:spPr>
      </p:pic>
    </p:spTree>
    <p:extLst>
      <p:ext uri="{BB962C8B-B14F-4D97-AF65-F5344CB8AC3E}">
        <p14:creationId xmlns:p14="http://schemas.microsoft.com/office/powerpoint/2010/main" val="7486392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B9A32CB-81C5-8822-93DC-E058DE132F6F}"/>
              </a:ext>
            </a:extLst>
          </p:cNvPr>
          <p:cNvSpPr txBox="1">
            <a:spLocks/>
          </p:cNvSpPr>
          <p:nvPr/>
        </p:nvSpPr>
        <p:spPr>
          <a:xfrm>
            <a:off x="1449556" y="301452"/>
            <a:ext cx="8780974" cy="960428"/>
          </a:xfrm>
          <a:prstGeom prst="rect">
            <a:avLst/>
          </a:prstGeom>
        </p:spPr>
        <p:txBody>
          <a:bodyPr>
            <a:normAutofit fontScale="77500" lnSpcReduction="2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altLang="en-US" sz="6300" cap="none" dirty="0">
                <a:latin typeface="Arial Black" panose="020B0A04020102020204" pitchFamily="34" charset="0"/>
              </a:rPr>
              <a:t>FUTURE SCOPE</a:t>
            </a:r>
            <a:br>
              <a:rPr lang="en-US" altLang="en-US" cap="none" dirty="0">
                <a:latin typeface="Arial" panose="020B0604020202020204" pitchFamily="34" charset="0"/>
              </a:rPr>
            </a:br>
            <a:endParaRPr lang="en-IN" dirty="0"/>
          </a:p>
        </p:txBody>
      </p:sp>
      <p:sp>
        <p:nvSpPr>
          <p:cNvPr id="6" name="Text Placeholder 2">
            <a:extLst>
              <a:ext uri="{FF2B5EF4-FFF2-40B4-BE49-F238E27FC236}">
                <a16:creationId xmlns:a16="http://schemas.microsoft.com/office/drawing/2014/main" id="{14338835-3AFD-B5D0-73EF-FED2BCB9485E}"/>
              </a:ext>
            </a:extLst>
          </p:cNvPr>
          <p:cNvSpPr txBox="1">
            <a:spLocks/>
          </p:cNvSpPr>
          <p:nvPr/>
        </p:nvSpPr>
        <p:spPr>
          <a:xfrm>
            <a:off x="1189703" y="913435"/>
            <a:ext cx="10273841" cy="5261223"/>
          </a:xfrm>
          <a:prstGeom prst="rect">
            <a:avLst/>
          </a:prstGeom>
        </p:spPr>
        <p:txBody>
          <a:bodyP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gn="just"/>
            <a:r>
              <a:rPr lang="en-IN" dirty="0"/>
              <a:t>Predict Patients No-Shows : Machine Learning can help forecast </a:t>
            </a:r>
            <a:r>
              <a:rPr lang="en-US" dirty="0"/>
              <a:t>which patients are likely to miss appointments. This improves scheduling efficiency and reduces wasted time slots.</a:t>
            </a:r>
          </a:p>
          <a:p>
            <a:pPr algn="just"/>
            <a:r>
              <a:rPr lang="en-IN" dirty="0"/>
              <a:t>Real-Time Data Integration</a:t>
            </a:r>
            <a:r>
              <a:rPr lang="en-US" dirty="0"/>
              <a:t> : Connecting the dashboard with live hospital databases allows dynamic updates. It enables doctors and admins to make timely, data-driven decisions.</a:t>
            </a:r>
          </a:p>
          <a:p>
            <a:pPr algn="just"/>
            <a:r>
              <a:rPr lang="en-IN" dirty="0"/>
              <a:t>Advanced Health Predictions : </a:t>
            </a:r>
            <a:r>
              <a:rPr lang="en-US" dirty="0"/>
              <a:t>ML models can be trained to predict disease risks or treatment success rate. This supports preventive care and personalized treatment planning.</a:t>
            </a:r>
          </a:p>
          <a:p>
            <a:pPr algn="just"/>
            <a:r>
              <a:rPr lang="en-IN" dirty="0"/>
              <a:t>Multi-Branch Hospital Support</a:t>
            </a:r>
            <a:r>
              <a:rPr lang="en-US" dirty="0"/>
              <a:t> : The system can be scaled to track data from multiple hospital branches. It provides centralized monitoring and comparison across locations.</a:t>
            </a:r>
            <a:endParaRPr lang="en-IN" dirty="0"/>
          </a:p>
        </p:txBody>
      </p:sp>
    </p:spTree>
    <p:extLst>
      <p:ext uri="{BB962C8B-B14F-4D97-AF65-F5344CB8AC3E}">
        <p14:creationId xmlns:p14="http://schemas.microsoft.com/office/powerpoint/2010/main" val="2701173665"/>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5BBE5-5B77-C758-AB45-AE499C13AC59}"/>
              </a:ext>
            </a:extLst>
          </p:cNvPr>
          <p:cNvSpPr txBox="1">
            <a:spLocks/>
          </p:cNvSpPr>
          <p:nvPr/>
        </p:nvSpPr>
        <p:spPr>
          <a:xfrm>
            <a:off x="1606872" y="285135"/>
            <a:ext cx="8780974" cy="1183222"/>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altLang="en-US" sz="4300" cap="none" dirty="0">
                <a:latin typeface="Arial Black" panose="020B0A04020102020204" pitchFamily="34" charset="0"/>
              </a:rPr>
              <a:t>CONCLUSION</a:t>
            </a:r>
            <a:br>
              <a:rPr lang="en-US" altLang="en-US" cap="none" dirty="0">
                <a:latin typeface="Arial" panose="020B0604020202020204" pitchFamily="34" charset="0"/>
              </a:rPr>
            </a:br>
            <a:endParaRPr lang="en-IN" dirty="0"/>
          </a:p>
        </p:txBody>
      </p:sp>
      <p:sp>
        <p:nvSpPr>
          <p:cNvPr id="3" name="Text Placeholder 2">
            <a:extLst>
              <a:ext uri="{FF2B5EF4-FFF2-40B4-BE49-F238E27FC236}">
                <a16:creationId xmlns:a16="http://schemas.microsoft.com/office/drawing/2014/main" id="{0B3EA85F-9231-2797-E4C1-E1C0F9A0EA9A}"/>
              </a:ext>
            </a:extLst>
          </p:cNvPr>
          <p:cNvSpPr txBox="1">
            <a:spLocks/>
          </p:cNvSpPr>
          <p:nvPr/>
        </p:nvSpPr>
        <p:spPr>
          <a:xfrm>
            <a:off x="1189703" y="1061884"/>
            <a:ext cx="10273841" cy="5584722"/>
          </a:xfrm>
          <a:prstGeom prst="rect">
            <a:avLst/>
          </a:prstGeom>
        </p:spPr>
        <p:txBody>
          <a:bodyP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just">
              <a:buNone/>
            </a:pPr>
            <a:r>
              <a:rPr lang="en-US" dirty="0"/>
              <a:t>To overcome the inefficiencies in healthcare data management, our project introduces a comprehensive </a:t>
            </a:r>
            <a:r>
              <a:rPr lang="en-US" b="1" dirty="0"/>
              <a:t>Healthcare Management Dashboard</a:t>
            </a:r>
            <a:r>
              <a:rPr lang="en-US" dirty="0"/>
              <a:t> using Tableau, integrated with a machine learning model. The solution unifies data from multiple sources—patients, doctors, treatments, appointments, and billing—into a centralized, interactive platform. It enables stakeholders to monitor key performance indicators (KPIs), gain real-time insights, and predict treatment costs, ultimately improving decision-making, optimizing hospital operations, and enhancing the overall quality of patient care.</a:t>
            </a:r>
            <a:endParaRPr lang="en-IN" dirty="0"/>
          </a:p>
        </p:txBody>
      </p:sp>
    </p:spTree>
    <p:extLst>
      <p:ext uri="{BB962C8B-B14F-4D97-AF65-F5344CB8AC3E}">
        <p14:creationId xmlns:p14="http://schemas.microsoft.com/office/powerpoint/2010/main" val="2673435017"/>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2AB79-8999-7707-4873-EEB6B35D195C}"/>
              </a:ext>
            </a:extLst>
          </p:cNvPr>
          <p:cNvSpPr txBox="1">
            <a:spLocks/>
          </p:cNvSpPr>
          <p:nvPr/>
        </p:nvSpPr>
        <p:spPr>
          <a:xfrm>
            <a:off x="986834" y="1772265"/>
            <a:ext cx="9905998" cy="3313469"/>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lnSpc>
                <a:spcPct val="100000"/>
              </a:lnSpc>
            </a:pPr>
            <a:r>
              <a:rPr lang="en-IN" sz="7200" b="1" dirty="0">
                <a:latin typeface="Algerian" panose="04020705040A02060702" pitchFamily="82" charset="0"/>
              </a:rPr>
              <a:t>THANK</a:t>
            </a:r>
          </a:p>
          <a:p>
            <a:pPr algn="ctr">
              <a:lnSpc>
                <a:spcPct val="100000"/>
              </a:lnSpc>
            </a:pPr>
            <a:r>
              <a:rPr lang="en-IN" sz="7200" b="1" dirty="0">
                <a:latin typeface="Algerian" panose="04020705040A02060702" pitchFamily="82" charset="0"/>
              </a:rPr>
              <a:t>YOU</a:t>
            </a:r>
          </a:p>
        </p:txBody>
      </p:sp>
    </p:spTree>
    <p:extLst>
      <p:ext uri="{BB962C8B-B14F-4D97-AF65-F5344CB8AC3E}">
        <p14:creationId xmlns:p14="http://schemas.microsoft.com/office/powerpoint/2010/main" val="20326115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132</TotalTime>
  <Words>663</Words>
  <Application>Microsoft Office PowerPoint</Application>
  <PresentationFormat>Widescreen</PresentationFormat>
  <Paragraphs>56</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Algerian</vt:lpstr>
      <vt:lpstr>Aptos</vt:lpstr>
      <vt:lpstr>Arial</vt:lpstr>
      <vt:lpstr>Arial Black</vt:lpstr>
      <vt:lpstr>Arial Rounded MT Bold</vt:lpstr>
      <vt:lpstr>Tw Cen MT</vt:lpstr>
      <vt:lpstr>Wingdings</vt:lpstr>
      <vt:lpstr>Circuit</vt:lpstr>
      <vt:lpstr>PRESENTATION ON HEALTHCARE MANAGEMENT SYSTEM</vt:lpstr>
      <vt:lpstr>CONTENTS</vt:lpstr>
      <vt:lpstr>PROBLEM STATEMENT</vt:lpstr>
      <vt:lpstr>DATASET OVERVIEW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Manasi Das</dc:creator>
  <cp:lastModifiedBy>Mr. Sunil Dalai</cp:lastModifiedBy>
  <cp:revision>4</cp:revision>
  <dcterms:created xsi:type="dcterms:W3CDTF">2025-06-29T15:46:30Z</dcterms:created>
  <dcterms:modified xsi:type="dcterms:W3CDTF">2025-06-29T18:24:43Z</dcterms:modified>
</cp:coreProperties>
</file>